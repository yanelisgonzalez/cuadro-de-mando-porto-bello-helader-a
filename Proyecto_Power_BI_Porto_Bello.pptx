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Gliker" charset="1" panose="00000500000000000000"/>
      <p:regular r:id="rId16"/>
    </p:embeddedFont>
    <p:embeddedFont>
      <p:font typeface="Roboto Bold" charset="1" panose="020000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8669" y="4275694"/>
            <a:ext cx="11869607" cy="411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Heladería Porto Bello, es un negocio dedicado a la elaboración y venta de helados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artesanales, batidos y postres fríos en Madrid. Su operación principal se realiza en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tienda física, aunque también recibe pedidos en línea durante los meses de mayor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demanda.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A pesar de contar con un flujo constante de clientes, la empresa no dispone de un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sistema analítico que permita evaluar el desempeño de las ventas de forma visual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y en tiempo real. Actualmente, las decisiones comerciales se basan en la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experiencia y la intuición, lo que limita la capacidad de reacción ante cambios en la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demanda o en las preferencias de los clientes.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8669" y="3522154"/>
            <a:ext cx="11869607" cy="58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98296" y="5105400"/>
            <a:ext cx="11641610" cy="41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El área crítica identificada para este análisis es “VENTAS”.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Se identificó la necesidad de disponer de información consolidada que nos permita: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Evaluar el rendimiento de los productos.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Detectar variaciones estacionales o tendencias de consumo.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Tomar decisiones basadas en datos para mejorar la rentabilidad y la eficacia operativa.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45557"/>
            <a:ext cx="16230600" cy="58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DEL PROBLEMA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8173" y="3449818"/>
            <a:ext cx="16230600" cy="58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 DEL 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3407" y="4913812"/>
            <a:ext cx="10400132" cy="249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Diseñar un “Cuadro de Mando” interactivo en Power BI que permita:</a:t>
            </a:r>
          </a:p>
          <a:p>
            <a:pPr algn="l">
              <a:lnSpc>
                <a:spcPts val="3359"/>
              </a:lnSpc>
            </a:pP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Obtener una visión global de las ventas.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Analizar las ventas desde diferentes perspectivas (producto, estacionalidad, días de la semana, franjas horarias).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Proponer estrategias  basadas en datos objetivos.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87640" y="3325139"/>
            <a:ext cx="11236013" cy="5933161"/>
          </a:xfrm>
          <a:custGeom>
            <a:avLst/>
            <a:gdLst/>
            <a:ahLst/>
            <a:cxnLst/>
            <a:rect r="r" b="b" t="t" l="l"/>
            <a:pathLst>
              <a:path h="5933161" w="11236013">
                <a:moveTo>
                  <a:pt x="0" y="0"/>
                </a:moveTo>
                <a:lnTo>
                  <a:pt x="11236013" y="0"/>
                </a:lnTo>
                <a:lnTo>
                  <a:pt x="11236013" y="5933161"/>
                </a:lnTo>
                <a:lnTo>
                  <a:pt x="0" y="59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2462" y="4328154"/>
            <a:ext cx="5369233" cy="81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¿ Cómo  evolucionan las ventas durante los años 2019 hasta 2025?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2462" y="5495925"/>
            <a:ext cx="5369233" cy="81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¿ Cuáles son los productos más vendidos?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5468" y="6663696"/>
            <a:ext cx="5369233" cy="39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¿Cuál es el ticket promedio?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958" y="3260214"/>
            <a:ext cx="5272239" cy="58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Preguntas Estratégicas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6971" y="7545714"/>
            <a:ext cx="5417730" cy="81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Open Sans"/>
                <a:ea typeface="Open Sans"/>
                <a:cs typeface="Open Sans"/>
                <a:sym typeface="Open Sans"/>
              </a:rPr>
              <a:t>¿Cómo se comportan las ventas según la estacionalidad?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8207" y="3080560"/>
            <a:ext cx="16230600" cy="58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Extraer, transformar y cargar datos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586792"/>
            <a:ext cx="4521213" cy="5471549"/>
            <a:chOff x="0" y="0"/>
            <a:chExt cx="1190772" cy="14410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0772" cy="1441066"/>
            </a:xfrm>
            <a:custGeom>
              <a:avLst/>
              <a:gdLst/>
              <a:ahLst/>
              <a:cxnLst/>
              <a:rect r="r" b="b" t="t" l="l"/>
              <a:pathLst>
                <a:path h="1441066" w="1190772">
                  <a:moveTo>
                    <a:pt x="1190772" y="0"/>
                  </a:moveTo>
                  <a:lnTo>
                    <a:pt x="1190772" y="1326766"/>
                  </a:lnTo>
                  <a:lnTo>
                    <a:pt x="595386" y="1441066"/>
                  </a:lnTo>
                  <a:lnTo>
                    <a:pt x="0" y="1326766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F6F2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90772" cy="137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43446" y="4413379"/>
            <a:ext cx="1158623" cy="115862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4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Gliker"/>
                  <a:ea typeface="Gliker"/>
                  <a:cs typeface="Gliker"/>
                  <a:sym typeface="Gliker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83393" y="4586792"/>
            <a:ext cx="4521213" cy="5471549"/>
            <a:chOff x="0" y="0"/>
            <a:chExt cx="1190772" cy="14410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0772" cy="1441066"/>
            </a:xfrm>
            <a:custGeom>
              <a:avLst/>
              <a:gdLst/>
              <a:ahLst/>
              <a:cxnLst/>
              <a:rect r="r" b="b" t="t" l="l"/>
              <a:pathLst>
                <a:path h="1441066" w="1190772">
                  <a:moveTo>
                    <a:pt x="1190772" y="0"/>
                  </a:moveTo>
                  <a:lnTo>
                    <a:pt x="1190772" y="1326766"/>
                  </a:lnTo>
                  <a:lnTo>
                    <a:pt x="595386" y="1441066"/>
                  </a:lnTo>
                  <a:lnTo>
                    <a:pt x="0" y="1326766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EFDB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90772" cy="137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94161" y="4413379"/>
            <a:ext cx="1158623" cy="115862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4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Gliker"/>
                  <a:ea typeface="Gliker"/>
                  <a:cs typeface="Gliker"/>
                  <a:sym typeface="Gliker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66561" y="4586792"/>
            <a:ext cx="4521213" cy="5471549"/>
            <a:chOff x="0" y="0"/>
            <a:chExt cx="1190772" cy="14410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0772" cy="1441066"/>
            </a:xfrm>
            <a:custGeom>
              <a:avLst/>
              <a:gdLst/>
              <a:ahLst/>
              <a:cxnLst/>
              <a:rect r="r" b="b" t="t" l="l"/>
              <a:pathLst>
                <a:path h="1441066" w="1190772">
                  <a:moveTo>
                    <a:pt x="1190772" y="0"/>
                  </a:moveTo>
                  <a:lnTo>
                    <a:pt x="1190772" y="1326766"/>
                  </a:lnTo>
                  <a:lnTo>
                    <a:pt x="595386" y="1441066"/>
                  </a:lnTo>
                  <a:lnTo>
                    <a:pt x="0" y="1326766"/>
                  </a:lnTo>
                  <a:lnTo>
                    <a:pt x="0" y="0"/>
                  </a:lnTo>
                  <a:lnTo>
                    <a:pt x="1190772" y="0"/>
                  </a:lnTo>
                  <a:close/>
                </a:path>
              </a:pathLst>
            </a:custGeom>
            <a:solidFill>
              <a:srgbClr val="DDEFE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90772" cy="1374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78349" y="4413379"/>
            <a:ext cx="1158623" cy="115862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4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Gliker"/>
                  <a:ea typeface="Gliker"/>
                  <a:cs typeface="Gliker"/>
                  <a:sym typeface="Gliker"/>
                </a:rPr>
                <a:t>03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5761539"/>
            <a:ext cx="4521213" cy="34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9E1962"/>
                </a:solidFill>
                <a:latin typeface="Roboto Bold"/>
                <a:ea typeface="Roboto Bold"/>
                <a:cs typeface="Roboto Bold"/>
                <a:sym typeface="Roboto Bold"/>
              </a:rPr>
              <a:t>Principales Fuentes de Información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2497" y="6692072"/>
            <a:ext cx="3933618" cy="63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Registro de ventas (POS)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446040"/>
            <a:ext cx="4521213" cy="3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Catálogos de Productos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6677" y="5764690"/>
            <a:ext cx="4521213" cy="34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9E1962"/>
                </a:solidFill>
                <a:latin typeface="Roboto Bold"/>
                <a:ea typeface="Roboto Bold"/>
                <a:cs typeface="Roboto Bold"/>
                <a:sym typeface="Roboto Bold"/>
              </a:rPr>
              <a:t>Transformación y Manipulación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00732" y="6692072"/>
            <a:ext cx="4521213" cy="3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Corregir errores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2901" y="7376427"/>
            <a:ext cx="4521213" cy="3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Unificar formatos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57302" y="8029105"/>
            <a:ext cx="3219964" cy="3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Eliminar duplicados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29960" y="8716779"/>
            <a:ext cx="4474646" cy="3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Tratamiento de valores nulos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29960" y="9404454"/>
            <a:ext cx="4521213" cy="31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Uso de Power Query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66561" y="5764690"/>
            <a:ext cx="4521213" cy="34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9E1962"/>
                </a:solidFill>
                <a:latin typeface="Roboto Bold"/>
                <a:ea typeface="Roboto Bold"/>
                <a:cs typeface="Roboto Bold"/>
                <a:sym typeface="Roboto Bold"/>
              </a:rPr>
              <a:t>Carga del Modelo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66561" y="6692072"/>
            <a:ext cx="4521213" cy="63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Guardar los datos preparados y limpios en Power BI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71014" y="3321044"/>
            <a:ext cx="6689360" cy="6204749"/>
          </a:xfrm>
          <a:custGeom>
            <a:avLst/>
            <a:gdLst/>
            <a:ahLst/>
            <a:cxnLst/>
            <a:rect r="r" b="b" t="t" l="l"/>
            <a:pathLst>
              <a:path h="6204749" w="6689360">
                <a:moveTo>
                  <a:pt x="0" y="0"/>
                </a:moveTo>
                <a:lnTo>
                  <a:pt x="6689360" y="0"/>
                </a:lnTo>
                <a:lnTo>
                  <a:pt x="6689360" y="6204749"/>
                </a:lnTo>
                <a:lnTo>
                  <a:pt x="0" y="6204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1771" y="2988010"/>
            <a:ext cx="8561702" cy="58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Roboto Bold"/>
                <a:ea typeface="Roboto Bold"/>
                <a:cs typeface="Roboto Bold"/>
                <a:sym typeface="Roboto Bold"/>
              </a:rPr>
              <a:t>MODELADO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32872"/>
            <a:ext cx="8614068" cy="50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Relaciones entre Tablas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Establecí las conexiones de las tablas de Dimensiones “t producto” y “Dim Tiempo” con la tabla de Hechos “t venta”.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Fórmulas DAX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Creé medidas personalizadas mediante fórmulas DAX para métricas específicas del proyecto.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Jerarquías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Implementé jerarquías para organizar la información por niveles, de forma que se pueda analizar, agrupar y navegar los datos de manera ordenada y flexible.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0543" y="4531918"/>
            <a:ext cx="666453" cy="66718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25278" y="6528804"/>
            <a:ext cx="590602" cy="61036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0946" y="8318950"/>
            <a:ext cx="655038" cy="546881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10935726" y="3681151"/>
            <a:ext cx="3171684" cy="2713071"/>
          </a:xfrm>
          <a:custGeom>
            <a:avLst/>
            <a:gdLst/>
            <a:ahLst/>
            <a:cxnLst/>
            <a:rect r="r" b="b" t="t" l="l"/>
            <a:pathLst>
              <a:path h="2713071" w="3171684">
                <a:moveTo>
                  <a:pt x="0" y="0"/>
                </a:moveTo>
                <a:lnTo>
                  <a:pt x="3171684" y="0"/>
                </a:lnTo>
                <a:lnTo>
                  <a:pt x="3171684" y="2713071"/>
                </a:lnTo>
                <a:lnTo>
                  <a:pt x="0" y="2713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735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84692" y="2718458"/>
            <a:ext cx="3477611" cy="4638456"/>
          </a:xfrm>
          <a:custGeom>
            <a:avLst/>
            <a:gdLst/>
            <a:ahLst/>
            <a:cxnLst/>
            <a:rect r="r" b="b" t="t" l="l"/>
            <a:pathLst>
              <a:path h="4638456" w="3477611">
                <a:moveTo>
                  <a:pt x="0" y="0"/>
                </a:moveTo>
                <a:lnTo>
                  <a:pt x="3477611" y="0"/>
                </a:lnTo>
                <a:lnTo>
                  <a:pt x="3477611" y="4638456"/>
                </a:lnTo>
                <a:lnTo>
                  <a:pt x="0" y="4638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69418" b="-699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0899" y="7243494"/>
            <a:ext cx="8887586" cy="3037329"/>
          </a:xfrm>
          <a:custGeom>
            <a:avLst/>
            <a:gdLst/>
            <a:ahLst/>
            <a:cxnLst/>
            <a:rect r="r" b="b" t="t" l="l"/>
            <a:pathLst>
              <a:path h="3037329" w="8887586">
                <a:moveTo>
                  <a:pt x="0" y="0"/>
                </a:moveTo>
                <a:lnTo>
                  <a:pt x="8887586" y="0"/>
                </a:lnTo>
                <a:lnTo>
                  <a:pt x="8887586" y="3037329"/>
                </a:lnTo>
                <a:lnTo>
                  <a:pt x="0" y="30373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269" r="-23981" b="-2239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1397" y="3226122"/>
            <a:ext cx="7458815" cy="58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Roboto Bold"/>
                <a:ea typeface="Roboto Bold"/>
                <a:cs typeface="Roboto Bold"/>
                <a:sym typeface="Roboto Bold"/>
              </a:rPr>
              <a:t>VISUALIZACIONES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1921" y="4551524"/>
            <a:ext cx="9066523" cy="125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Utilicé el gráfico circular para mostrar como se reparte un total entre varias partes, para ver proporciones o porcentajes de forma visual y rápida.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1921" y="6522518"/>
            <a:ext cx="9066523" cy="83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Utilicé los gráficos de barras y de columnas para comparar valores entre distintas categorías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1921" y="8316386"/>
            <a:ext cx="9066523" cy="83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Utilicé el gráfico de líneas para visualizar la evolución o tendencia de los datos a lo largo del tiempo.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1252" y="251418"/>
            <a:ext cx="8484442" cy="2683735"/>
          </a:xfrm>
          <a:custGeom>
            <a:avLst/>
            <a:gdLst/>
            <a:ahLst/>
            <a:cxnLst/>
            <a:rect r="r" b="b" t="t" l="l"/>
            <a:pathLst>
              <a:path h="2683735" w="8484442">
                <a:moveTo>
                  <a:pt x="0" y="0"/>
                </a:moveTo>
                <a:lnTo>
                  <a:pt x="8484442" y="0"/>
                </a:lnTo>
                <a:lnTo>
                  <a:pt x="8484442" y="2683736"/>
                </a:lnTo>
                <a:lnTo>
                  <a:pt x="0" y="2683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53" r="0" b="-6855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19370" y="3266303"/>
            <a:ext cx="3188276" cy="58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1962"/>
                </a:solidFill>
                <a:latin typeface="Roboto Bold"/>
                <a:ea typeface="Roboto Bold"/>
                <a:cs typeface="Roboto Bold"/>
                <a:sym typeface="Roboto Bold"/>
              </a:rPr>
              <a:t>CONCLUSIONES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64562" y="4111806"/>
            <a:ext cx="11445872" cy="544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Este Dashboard transforma datos crudos en información visual y fácil de interpretar.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Se puede identificar las Categorías y Productos más y menos vendidos.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Permite identificar las franjas horarias, los días y los meses de mayores y menores ventas.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Ayuda a detectar desperdicio o exceso de stock de productos poco demandados.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Permite planificar el inventario de productos según demanda real y estacionalidad.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Facilita la toma de decisiones estratégicas sobre el producto y el precio.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sz="2400">
                <a:solidFill>
                  <a:srgbClr val="9E1962"/>
                </a:solidFill>
                <a:latin typeface="Roboto"/>
                <a:ea typeface="Roboto"/>
                <a:cs typeface="Roboto"/>
                <a:sym typeface="Roboto"/>
              </a:rPr>
              <a:t>Genera insighs accionables, que se traducen en acciones correctivas y estrategias de crecimiento.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DAG7e63VMbE</dc:identifier>
  <dcterms:modified xsi:type="dcterms:W3CDTF">2011-08-01T06:04:30Z</dcterms:modified>
  <cp:revision>1</cp:revision>
  <dc:title>Introducción Heladería Portobello, es un negocio dedicado a la elaboración y venta de helados artesanales, batidos y postres fríos en Madrid. Su operación principal se realiza en tienda física, aunque también recibe pedidos en línea durante los meses de</dc:title>
</cp:coreProperties>
</file>